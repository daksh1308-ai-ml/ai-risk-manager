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219" y="737592"/>
            <a:ext cx="1071563" cy="10715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30723" y="2052042"/>
            <a:ext cx="5082555" cy="985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200" b="1" spc="8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TRISHUL</a:t>
            </a:r>
            <a:endParaRPr lang="en-US" sz="6200" dirty="0"/>
          </a:p>
        </p:txBody>
      </p:sp>
      <p:sp>
        <p:nvSpPr>
          <p:cNvPr id="5" name="Text 1"/>
          <p:cNvSpPr/>
          <p:nvPr/>
        </p:nvSpPr>
        <p:spPr>
          <a:xfrm>
            <a:off x="2030723" y="3109317"/>
            <a:ext cx="508255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Triple Threat Chargeback Defense for Indian BFSI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2030723" y="3659386"/>
            <a:ext cx="5082555" cy="317897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Cost-Aware • Drift-Resilient • 4-Class Fraud Detection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655" y="4279106"/>
            <a:ext cx="1342634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98776" y="4636294"/>
            <a:ext cx="194639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AI/ML Internship Project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8608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86082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86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MERCHANTS LOSE ₹3,500 CR/YEAR TO CHARGEBACKS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71568" y="1646634"/>
            <a:ext cx="144208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models optimize for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113657" y="1646634"/>
            <a:ext cx="482873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96530" y="1646634"/>
            <a:ext cx="2118345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failing to account for real monetary cost.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71568" y="2253853"/>
            <a:ext cx="1321147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RBI's asymmetric liability: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92716" y="2253853"/>
            <a:ext cx="272215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Merchants bear the full loss on missed fraud transactions.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1568" y="3057525"/>
            <a:ext cx="2239287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degrade silently as fraud patterns shift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10855" y="3057525"/>
            <a:ext cx="87684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seasonally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87694" y="3057525"/>
            <a:ext cx="927181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(e.g., Diwali sales).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1568" y="3664744"/>
            <a:ext cx="1403189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classification misses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074757" y="3664744"/>
            <a:ext cx="736699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friendly fraud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811456" y="3664744"/>
            <a:ext cx="190341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which accounts for 60% of disputes.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143500" y="1646634"/>
            <a:ext cx="3571875" cy="342542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6B35">
                <a:alpha val="3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2075259"/>
            <a:ext cx="3557588" cy="27146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43500" y="4861322"/>
            <a:ext cx="35718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Chargeback Loss (Estimated ₹ Cr)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929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929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TRISHUL: THREE PILLARS OF DEFENSE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250156"/>
            <a:ext cx="2500313" cy="24717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250156"/>
            <a:ext cx="2500313" cy="2857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469" y="1553766"/>
            <a:ext cx="428625" cy="428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" y="2171700"/>
            <a:ext cx="22145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Cost-Sensitive Learning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71500" y="2778919"/>
            <a:ext cx="22145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 models optimized </a:t>
            </a: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against the </a:t>
            </a:r>
            <a:r>
              <a:rPr lang="en-US" sz="1000" b="1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Cost Matrix</a:t>
            </a: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prioritizing financial impact over </a:t>
            </a: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F1-score.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21844" y="1250156"/>
            <a:ext cx="2500313" cy="24717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3321844" y="1250156"/>
            <a:ext cx="2500313" cy="2857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8" y="1553766"/>
            <a:ext cx="428625" cy="4286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64719" y="2171700"/>
            <a:ext cx="22145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Drift Detection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64719" y="2778919"/>
            <a:ext cx="22145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monitoring using </a:t>
            </a:r>
            <a:r>
              <a:rPr lang="en-US" sz="1000" b="1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ADWIN, PSI, and Page-Hinkley</a:t>
            </a: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trigger adaptive model </a:t>
            </a: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retraining.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15063" y="1250156"/>
            <a:ext cx="2500313" cy="244316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6215063" y="1250156"/>
            <a:ext cx="2500313" cy="2857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906" y="1553766"/>
            <a:ext cx="428625" cy="4286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7938" y="2171700"/>
            <a:ext cx="22145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4-Class Fraud Classification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357938" y="2778919"/>
            <a:ext cx="221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Granular detection of </a:t>
            </a:r>
            <a:r>
              <a:rPr lang="en-US" sz="1000" b="1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Genuine, Friendly, ATO, and Technical</a:t>
            </a: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fraud for targeted resolution.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8625" y="4121944"/>
            <a:ext cx="8286750" cy="339328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277320"/>
            <a:ext cx="128588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0119" y="4264819"/>
            <a:ext cx="161990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78.5% Cost Savings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7745" y="4277320"/>
            <a:ext cx="171450" cy="1714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846351" y="4264819"/>
            <a:ext cx="161699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98/98 Tests Passing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075" y="4277320"/>
            <a:ext cx="128588" cy="1714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696819" y="4264819"/>
            <a:ext cx="17327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&lt;50ms API Response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929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929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ARCHITECTURE: HOW IT WORKS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107281"/>
            <a:ext cx="8286750" cy="15716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1000125"/>
            <a:ext cx="2200331" cy="16787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000125"/>
            <a:ext cx="2200331" cy="167878"/>
          </a:xfrm>
          <a:prstGeom prst="rect">
            <a:avLst/>
          </a:prstGeom>
          <a:noFill/>
          <a:ln/>
        </p:spPr>
        <p:txBody>
          <a:bodyPr wrap="square" lIns="85090" tIns="17018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REAL-TIME TRANSACTION PIPELINE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371600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4375" y="1671638"/>
            <a:ext cx="1428750" cy="714375"/>
          </a:xfrm>
          <a:prstGeom prst="rect">
            <a:avLst/>
          </a:prstGeom>
          <a:solidFill>
            <a:srgbClr val="FF6B35">
              <a:alpha val="5000"/>
            </a:srgbClr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4375" y="1671638"/>
            <a:ext cx="1428750" cy="71437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Input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88671" y="2493169"/>
            <a:ext cx="10801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FastAPI / Pydantic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325" y="1893094"/>
            <a:ext cx="214313" cy="214313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13" y="1371600"/>
            <a:ext cx="228600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809838" y="1671638"/>
            <a:ext cx="1428750" cy="714375"/>
          </a:xfrm>
          <a:prstGeom prst="rect">
            <a:avLst/>
          </a:prstGeom>
          <a:solidFill>
            <a:srgbClr val="FF6B35">
              <a:alpha val="5000"/>
            </a:srgbClr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809838" y="1671638"/>
            <a:ext cx="1428750" cy="71437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1: XGBoost Risk Scorer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3074101" y="2493169"/>
            <a:ext cx="9001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Threshold: </a:t>
            </a:r>
            <a:r>
              <a:rPr lang="en-US" sz="700" b="1" dirty="0">
                <a:solidFill>
                  <a:srgbClr val="FF6B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0.35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788" y="1893094"/>
            <a:ext cx="214313" cy="214313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5376" y="1371600"/>
            <a:ext cx="228600" cy="2286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905301" y="1671638"/>
            <a:ext cx="1428750" cy="714375"/>
          </a:xfrm>
          <a:prstGeom prst="rect">
            <a:avLst/>
          </a:prstGeom>
          <a:solidFill>
            <a:srgbClr val="FF6B35">
              <a:alpha val="5000"/>
            </a:srgbClr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4905301" y="1671638"/>
            <a:ext cx="1428750" cy="71437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2: Random Forest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959548" y="2493169"/>
            <a:ext cx="132019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4-Class Classification</a:t>
            </a:r>
            <a:endParaRPr lang="en-US" sz="7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251" y="1893094"/>
            <a:ext cx="214313" cy="214313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0838" y="1371600"/>
            <a:ext cx="228600" cy="2286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7000763" y="1671638"/>
            <a:ext cx="1428750" cy="714375"/>
          </a:xfrm>
          <a:prstGeom prst="rect">
            <a:avLst/>
          </a:prstGeom>
          <a:solidFill>
            <a:srgbClr val="FF6B35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7000763" y="1671638"/>
            <a:ext cx="1428750" cy="71437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 / REVIEW / BLOCK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7295052" y="2493169"/>
            <a:ext cx="840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Final Decision</a:t>
            </a:r>
            <a:endParaRPr lang="en-US" sz="750" dirty="0"/>
          </a:p>
        </p:txBody>
      </p:sp>
      <p:sp>
        <p:nvSpPr>
          <p:cNvPr id="28" name="Shape 18"/>
          <p:cNvSpPr/>
          <p:nvPr/>
        </p:nvSpPr>
        <p:spPr>
          <a:xfrm>
            <a:off x="428625" y="2964656"/>
            <a:ext cx="8286750" cy="15716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571500" y="2857500"/>
            <a:ext cx="1925966" cy="16787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0"/>
          <p:cNvSpPr/>
          <p:nvPr/>
        </p:nvSpPr>
        <p:spPr>
          <a:xfrm>
            <a:off x="571500" y="2857500"/>
            <a:ext cx="1925966" cy="167878"/>
          </a:xfrm>
          <a:prstGeom prst="rect">
            <a:avLst/>
          </a:prstGeom>
          <a:noFill/>
          <a:ln/>
        </p:spPr>
        <p:txBody>
          <a:bodyPr wrap="square" lIns="85090" tIns="17018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ASYNCHRONOUS ADAPTIVE LOOP</a:t>
            </a:r>
            <a:endParaRPr lang="en-US" sz="8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8738" y="3228975"/>
            <a:ext cx="200025" cy="22860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714375" y="3529013"/>
            <a:ext cx="1428750" cy="714375"/>
          </a:xfrm>
          <a:prstGeom prst="rect">
            <a:avLst/>
          </a:prstGeom>
          <a:solidFill>
            <a:srgbClr val="FF6B35">
              <a:alpha val="5000"/>
            </a:srgbClr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714375" y="3529013"/>
            <a:ext cx="1428750" cy="71437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Stream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888671" y="4350544"/>
            <a:ext cx="10801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PostgreSQL / Redis</a:t>
            </a:r>
            <a:endParaRPr lang="en-US" sz="7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8863" y="3750469"/>
            <a:ext cx="214313" cy="214313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8988" y="3228975"/>
            <a:ext cx="228600" cy="228600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2728913" y="3529013"/>
            <a:ext cx="1428750" cy="714375"/>
          </a:xfrm>
          <a:prstGeom prst="rect">
            <a:avLst/>
          </a:prstGeom>
          <a:solidFill>
            <a:srgbClr val="FF6B35">
              <a:alpha val="5000"/>
            </a:srgbClr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38" name="Text 25"/>
          <p:cNvSpPr/>
          <p:nvPr/>
        </p:nvSpPr>
        <p:spPr>
          <a:xfrm>
            <a:off x="2728913" y="3529013"/>
            <a:ext cx="1428750" cy="71437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Monitor (ADWIN / PSI)</a:t>
            </a:r>
            <a:endParaRPr lang="en-US" sz="900" dirty="0"/>
          </a:p>
        </p:txBody>
      </p:sp>
      <p:sp>
        <p:nvSpPr>
          <p:cNvPr id="39" name="Text 26"/>
          <p:cNvSpPr/>
          <p:nvPr/>
        </p:nvSpPr>
        <p:spPr>
          <a:xfrm>
            <a:off x="3053228" y="4350544"/>
            <a:ext cx="7801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River Library</a:t>
            </a:r>
            <a:endParaRPr lang="en-US" sz="75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3400" y="3750469"/>
            <a:ext cx="214313" cy="214313"/>
          </a:xfrm>
          <a:prstGeom prst="rect">
            <a:avLst/>
          </a:prstGeom>
        </p:spPr>
      </p:pic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43525" y="3228975"/>
            <a:ext cx="228600" cy="228600"/>
          </a:xfrm>
          <a:prstGeom prst="rect">
            <a:avLst/>
          </a:prstGeom>
        </p:spPr>
      </p:pic>
      <p:sp>
        <p:nvSpPr>
          <p:cNvPr id="42" name="Shape 27"/>
          <p:cNvSpPr/>
          <p:nvPr/>
        </p:nvSpPr>
        <p:spPr>
          <a:xfrm>
            <a:off x="4743450" y="3529013"/>
            <a:ext cx="1428750" cy="714375"/>
          </a:xfrm>
          <a:prstGeom prst="rect">
            <a:avLst/>
          </a:prstGeom>
          <a:solidFill>
            <a:srgbClr val="FF6B35">
              <a:alpha val="5000"/>
            </a:srgbClr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43" name="Text 28"/>
          <p:cNvSpPr/>
          <p:nvPr/>
        </p:nvSpPr>
        <p:spPr>
          <a:xfrm>
            <a:off x="4743450" y="3529013"/>
            <a:ext cx="1428750" cy="71437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Retrainer</a:t>
            </a:r>
            <a:endParaRPr lang="en-US" sz="900" dirty="0"/>
          </a:p>
        </p:txBody>
      </p:sp>
      <p:sp>
        <p:nvSpPr>
          <p:cNvPr id="44" name="Text 29"/>
          <p:cNvSpPr/>
          <p:nvPr/>
        </p:nvSpPr>
        <p:spPr>
          <a:xfrm>
            <a:off x="4827724" y="4350544"/>
            <a:ext cx="12602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Quarterly / Triggered</a:t>
            </a:r>
            <a:endParaRPr lang="en-US" sz="75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00813" y="3609045"/>
            <a:ext cx="128588" cy="128588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6629400" y="3601901"/>
            <a:ext cx="159389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monitoring ensures</a:t>
            </a:r>
            <a:endParaRPr lang="en-US" sz="950" dirty="0"/>
          </a:p>
        </p:txBody>
      </p:sp>
      <p:sp>
        <p:nvSpPr>
          <p:cNvPr id="47" name="Text 31"/>
          <p:cNvSpPr/>
          <p:nvPr/>
        </p:nvSpPr>
        <p:spPr>
          <a:xfrm>
            <a:off x="6500813" y="3781890"/>
            <a:ext cx="87901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remain</a:t>
            </a:r>
            <a:endParaRPr lang="en-US" sz="950" dirty="0"/>
          </a:p>
        </p:txBody>
      </p:sp>
      <p:sp>
        <p:nvSpPr>
          <p:cNvPr id="48" name="Text 32"/>
          <p:cNvSpPr/>
          <p:nvPr/>
        </p:nvSpPr>
        <p:spPr>
          <a:xfrm>
            <a:off x="7379829" y="3781890"/>
            <a:ext cx="78592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drift-resilient</a:t>
            </a:r>
            <a:endParaRPr lang="en-US" sz="900" dirty="0"/>
          </a:p>
        </p:txBody>
      </p:sp>
      <p:sp>
        <p:nvSpPr>
          <p:cNvPr id="49" name="Text 33"/>
          <p:cNvSpPr/>
          <p:nvPr/>
        </p:nvSpPr>
        <p:spPr>
          <a:xfrm>
            <a:off x="6500813" y="3961879"/>
            <a:ext cx="16986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interrupting live traffic.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8581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PRE-SETTLEMENT DEFENSE: CATCHING FRAUD EARLY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857375"/>
            <a:ext cx="1571625" cy="8572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94" y="2028825"/>
            <a:ext cx="242888" cy="214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8625" y="2314575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Authorization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31" y="2132409"/>
            <a:ext cx="285750" cy="2857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66963" y="1857375"/>
            <a:ext cx="1571625" cy="857250"/>
          </a:xfrm>
          <a:prstGeom prst="rect">
            <a:avLst/>
          </a:prstGeom>
          <a:solidFill>
            <a:srgbClr val="FF6B35">
              <a:alpha val="10000"/>
            </a:srgbClr>
          </a:solidFill>
          <a:ln w="18288">
            <a:solidFill>
              <a:srgbClr val="FF6B35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900" y="2085975"/>
            <a:ext cx="285750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62033" y="2407444"/>
            <a:ext cx="9814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Trishul Analysis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069" y="2132409"/>
            <a:ext cx="285750" cy="28575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905301" y="1857375"/>
            <a:ext cx="1571625" cy="8572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3957" y="2103834"/>
            <a:ext cx="214313" cy="2143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19557" y="2389584"/>
            <a:ext cx="11431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Settlement or Hold</a:t>
            </a:r>
            <a:endParaRPr lang="en-US" sz="9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407" y="2132409"/>
            <a:ext cx="285750" cy="28575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143638" y="1857375"/>
            <a:ext cx="1571625" cy="8572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2295" y="2103834"/>
            <a:ext cx="214313" cy="214313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47204" y="2389584"/>
            <a:ext cx="76449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Payout</a:t>
            </a:r>
            <a:endParaRPr lang="en-US" sz="900" dirty="0"/>
          </a:p>
        </p:txBody>
      </p:sp>
      <p:sp>
        <p:nvSpPr>
          <p:cNvPr id="21" name="Shape 11"/>
          <p:cNvSpPr/>
          <p:nvPr/>
        </p:nvSpPr>
        <p:spPr>
          <a:xfrm>
            <a:off x="428625" y="3286125"/>
            <a:ext cx="8286750" cy="11858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" name="Shape 12"/>
          <p:cNvSpPr/>
          <p:nvPr/>
        </p:nvSpPr>
        <p:spPr>
          <a:xfrm>
            <a:off x="428625" y="3286125"/>
            <a:ext cx="8286750" cy="7144"/>
          </a:xfrm>
          <a:prstGeom prst="rect">
            <a:avLst/>
          </a:prstGeom>
          <a:solidFill>
            <a:srgbClr val="FFB59A"/>
          </a:solidFill>
          <a:ln/>
        </p:spPr>
      </p:sp>
      <p:sp>
        <p:nvSpPr>
          <p:cNvPr id="23" name="Text 13"/>
          <p:cNvSpPr/>
          <p:nvPr/>
        </p:nvSpPr>
        <p:spPr>
          <a:xfrm>
            <a:off x="661913" y="3571875"/>
            <a:ext cx="3214688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₹100</a:t>
            </a:r>
            <a:endParaRPr lang="en-US" sz="3300" dirty="0"/>
          </a:p>
        </p:txBody>
      </p:sp>
      <p:sp>
        <p:nvSpPr>
          <p:cNvPr id="24" name="Text 14"/>
          <p:cNvSpPr/>
          <p:nvPr/>
        </p:nvSpPr>
        <p:spPr>
          <a:xfrm>
            <a:off x="661913" y="4268391"/>
            <a:ext cx="32146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spc="2" kern="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COST</a:t>
            </a:r>
            <a:endParaRPr lang="en-US" sz="1250" dirty="0"/>
          </a:p>
        </p:txBody>
      </p:sp>
      <p:sp>
        <p:nvSpPr>
          <p:cNvPr id="25" name="Text 15"/>
          <p:cNvSpPr/>
          <p:nvPr/>
        </p:nvSpPr>
        <p:spPr>
          <a:xfrm>
            <a:off x="4343233" y="3571875"/>
            <a:ext cx="457423" cy="892969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2600" dirty="0"/>
          </a:p>
        </p:txBody>
      </p:sp>
      <p:sp>
        <p:nvSpPr>
          <p:cNvPr id="26" name="Text 16"/>
          <p:cNvSpPr/>
          <p:nvPr/>
        </p:nvSpPr>
        <p:spPr>
          <a:xfrm>
            <a:off x="5267288" y="3571875"/>
            <a:ext cx="3214688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₹50,700+</a:t>
            </a:r>
            <a:endParaRPr lang="en-US" sz="3300" dirty="0"/>
          </a:p>
        </p:txBody>
      </p:sp>
      <p:sp>
        <p:nvSpPr>
          <p:cNvPr id="27" name="Text 17"/>
          <p:cNvSpPr/>
          <p:nvPr/>
        </p:nvSpPr>
        <p:spPr>
          <a:xfrm>
            <a:off x="5267288" y="4268391"/>
            <a:ext cx="32146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spc="2" kern="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CHARGEBACK COST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428625" y="4750594"/>
            <a:ext cx="8286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"Catch fraud BEFORE funds settle, not AFTER chargebacks are filed."</a:t>
            </a:r>
            <a:endParaRPr lang="en-US" sz="14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6625" y="4400550"/>
            <a:ext cx="1428750" cy="3571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89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28625" y="428625"/>
            <a:ext cx="57150" cy="38933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2938" y="428625"/>
            <a:ext cx="8072438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RBI-ALIGNED COST MATRIX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35769" y="1039416"/>
            <a:ext cx="1428750" cy="7000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35769" y="1039416"/>
            <a:ext cx="1428750" cy="700088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ctr">
            <a:sp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64519" y="1039416"/>
            <a:ext cx="5057775" cy="7000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864519" y="1039416"/>
            <a:ext cx="5057775" cy="700088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ctr">
            <a:sp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Consequence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22294" y="1039416"/>
            <a:ext cx="1785938" cy="7000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22294" y="1039416"/>
            <a:ext cx="1785938" cy="700088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ctr">
            <a:sp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Amount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5769" y="1739503"/>
            <a:ext cx="1428750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Negative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864519" y="1739503"/>
            <a:ext cx="5057775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Chargeback + Processing + Churn + RBI Penalty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22294" y="1739503"/>
            <a:ext cx="1785938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Amt + ₹700 + ₹200 + ₹100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5769" y="2311003"/>
            <a:ext cx="1428750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Positive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64519" y="2311003"/>
            <a:ext cx="5057775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 Sale + Manual Review + Churn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922294" y="2311003"/>
            <a:ext cx="1785938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70% Amt + ₹150 + ₹60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35769" y="2882503"/>
            <a:ext cx="1428750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Positive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864519" y="2882503"/>
            <a:ext cx="5057775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cost only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922294" y="2882503"/>
            <a:ext cx="1785938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₹100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35769" y="3454003"/>
            <a:ext cx="1428750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Negative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864519" y="3454003"/>
            <a:ext cx="5057775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incremental cost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922294" y="3454003"/>
            <a:ext cx="1785938" cy="5715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57213" y="4168378"/>
            <a:ext cx="37433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ZERO-LIABILITY THRESHOLD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57213" y="4300538"/>
            <a:ext cx="37433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₹50,000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843463" y="4168378"/>
            <a:ext cx="37433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COMPENSATION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43463" y="4300538"/>
            <a:ext cx="37433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₹25,000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8581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PERFORMANCE: RESULTS &amp; EFFICIENCY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357313"/>
            <a:ext cx="2666963" cy="1571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1500188"/>
            <a:ext cx="266696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1732359"/>
            <a:ext cx="2666963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98%+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428625" y="2386013"/>
            <a:ext cx="26669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Held-out Test Set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38463" y="1357313"/>
            <a:ext cx="2667019" cy="1571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38463" y="1500188"/>
            <a:ext cx="266701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38463" y="1732359"/>
            <a:ext cx="2667019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96%+</a:t>
            </a:r>
            <a:endParaRPr lang="en-US" sz="3750" dirty="0"/>
          </a:p>
        </p:txBody>
      </p:sp>
      <p:sp>
        <p:nvSpPr>
          <p:cNvPr id="13" name="Text 10"/>
          <p:cNvSpPr/>
          <p:nvPr/>
        </p:nvSpPr>
        <p:spPr>
          <a:xfrm>
            <a:off x="3238463" y="2386013"/>
            <a:ext cx="266701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Held-out Test Set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48356" y="1357313"/>
            <a:ext cx="2667019" cy="1571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48356" y="1500188"/>
            <a:ext cx="266701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48356" y="1732359"/>
            <a:ext cx="2667019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</a:t>
            </a:r>
            <a:endParaRPr lang="en-US" sz="3750" dirty="0"/>
          </a:p>
        </p:txBody>
      </p:sp>
      <p:sp>
        <p:nvSpPr>
          <p:cNvPr id="17" name="Text 14"/>
          <p:cNvSpPr/>
          <p:nvPr/>
        </p:nvSpPr>
        <p:spPr>
          <a:xfrm>
            <a:off x="6048356" y="2386013"/>
            <a:ext cx="266701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Harmonic Mean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8625" y="3071813"/>
            <a:ext cx="2666963" cy="1571625"/>
          </a:xfrm>
          <a:prstGeom prst="rect">
            <a:avLst/>
          </a:prstGeom>
          <a:solidFill>
            <a:srgbClr val="FF6B35">
              <a:alpha val="10000"/>
            </a:srgbClr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8625" y="3214688"/>
            <a:ext cx="266696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SAVINGS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28625" y="3446859"/>
            <a:ext cx="2666963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78.5%</a:t>
            </a:r>
            <a:endParaRPr lang="en-US" sz="3750" dirty="0"/>
          </a:p>
        </p:txBody>
      </p:sp>
      <p:sp>
        <p:nvSpPr>
          <p:cNvPr id="21" name="Text 18"/>
          <p:cNvSpPr/>
          <p:nvPr/>
        </p:nvSpPr>
        <p:spPr>
          <a:xfrm>
            <a:off x="428625" y="4100513"/>
            <a:ext cx="26669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 Baseline F1-Optimized Model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38463" y="3071813"/>
            <a:ext cx="2667019" cy="1571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38463" y="3214688"/>
            <a:ext cx="266701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LATENCY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238463" y="3446859"/>
            <a:ext cx="2667019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&lt;50ms</a:t>
            </a:r>
            <a:endParaRPr lang="en-US" sz="3750" dirty="0"/>
          </a:p>
        </p:txBody>
      </p:sp>
      <p:sp>
        <p:nvSpPr>
          <p:cNvPr id="25" name="Text 22"/>
          <p:cNvSpPr/>
          <p:nvPr/>
        </p:nvSpPr>
        <p:spPr>
          <a:xfrm>
            <a:off x="3238463" y="4100513"/>
            <a:ext cx="266701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P99 Response 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048356" y="3071813"/>
            <a:ext cx="2667019" cy="157162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48356" y="3214688"/>
            <a:ext cx="266701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RELIABILITY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048356" y="3446859"/>
            <a:ext cx="2667019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98/98</a:t>
            </a:r>
            <a:endParaRPr lang="en-US" sz="3750" dirty="0"/>
          </a:p>
        </p:txBody>
      </p:sp>
      <p:sp>
        <p:nvSpPr>
          <p:cNvPr id="29" name="Text 26"/>
          <p:cNvSpPr/>
          <p:nvPr/>
        </p:nvSpPr>
        <p:spPr>
          <a:xfrm>
            <a:off x="6048356" y="4100513"/>
            <a:ext cx="266701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Passing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28625" y="4786313"/>
            <a:ext cx="82867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*Training metrics achieved 100% across all primary indicators.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8581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RETRAINING: DEFEATING CONCEPT DRIFT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500188"/>
            <a:ext cx="4643438" cy="330755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6B35">
                <a:alpha val="2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14500"/>
            <a:ext cx="4343400" cy="2857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4679156"/>
            <a:ext cx="4357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12-Month Performance Simulation (F1-Score)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500688" y="1500188"/>
            <a:ext cx="759526" cy="225028"/>
          </a:xfrm>
          <a:prstGeom prst="rect">
            <a:avLst/>
          </a:prstGeom>
          <a:noFill/>
          <a:ln/>
        </p:spPr>
        <p:txBody>
          <a:bodyPr wrap="none" lIns="0" tIns="8509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260213" y="1500188"/>
            <a:ext cx="1844650" cy="225028"/>
          </a:xfrm>
          <a:prstGeom prst="rect">
            <a:avLst/>
          </a:prstGeom>
          <a:noFill/>
          <a:ln/>
        </p:spPr>
        <p:txBody>
          <a:bodyPr wrap="square" lIns="0" tIns="8509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104863" y="1500188"/>
            <a:ext cx="610512" cy="225028"/>
          </a:xfrm>
          <a:prstGeom prst="rect">
            <a:avLst/>
          </a:prstGeom>
          <a:noFill/>
          <a:ln/>
        </p:spPr>
        <p:txBody>
          <a:bodyPr wrap="none" lIns="0" tIns="8509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500688" y="1725216"/>
            <a:ext cx="759526" cy="250031"/>
          </a:xfrm>
          <a:prstGeom prst="rect">
            <a:avLst/>
          </a:prstGeom>
          <a:noFill/>
          <a:ln/>
        </p:spPr>
        <p:txBody>
          <a:bodyPr wrap="non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M1-M3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260213" y="1725216"/>
            <a:ext cx="1844650" cy="250031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104863" y="1725216"/>
            <a:ext cx="610512" cy="250031"/>
          </a:xfrm>
          <a:prstGeom prst="rect">
            <a:avLst/>
          </a:prstGeom>
          <a:noFill/>
          <a:ln/>
        </p:spPr>
        <p:txBody>
          <a:bodyPr wrap="non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2%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500688" y="1975247"/>
            <a:ext cx="759526" cy="246459"/>
          </a:xfrm>
          <a:prstGeom prst="rect">
            <a:avLst/>
          </a:prstGeom>
          <a:noFill/>
          <a:ln/>
        </p:spPr>
        <p:txBody>
          <a:bodyPr wrap="non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M4-M6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260213" y="1975247"/>
            <a:ext cx="1844650" cy="246459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Diwali (Seasonal)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104863" y="1975247"/>
            <a:ext cx="610512" cy="246459"/>
          </a:xfrm>
          <a:prstGeom prst="rect">
            <a:avLst/>
          </a:prstGeom>
          <a:noFill/>
          <a:ln/>
        </p:spPr>
        <p:txBody>
          <a:bodyPr wrap="non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8%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500688" y="2221706"/>
            <a:ext cx="759526" cy="246459"/>
          </a:xfrm>
          <a:prstGeom prst="rect">
            <a:avLst/>
          </a:prstGeom>
          <a:noFill/>
          <a:ln/>
        </p:spPr>
        <p:txBody>
          <a:bodyPr wrap="non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M7-M9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260213" y="2221706"/>
            <a:ext cx="1844650" cy="246459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Shift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8104863" y="2221706"/>
            <a:ext cx="610512" cy="246459"/>
          </a:xfrm>
          <a:prstGeom prst="rect">
            <a:avLst/>
          </a:prstGeom>
          <a:noFill/>
          <a:ln/>
        </p:spPr>
        <p:txBody>
          <a:bodyPr wrap="non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500688" y="2468166"/>
            <a:ext cx="759526" cy="246459"/>
          </a:xfrm>
          <a:prstGeom prst="rect">
            <a:avLst/>
          </a:prstGeom>
          <a:noFill/>
          <a:ln/>
        </p:spPr>
        <p:txBody>
          <a:bodyPr wrap="non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M10-M12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6260213" y="2468166"/>
            <a:ext cx="1844650" cy="246459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Recovery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104863" y="2468166"/>
            <a:ext cx="610512" cy="246459"/>
          </a:xfrm>
          <a:prstGeom prst="rect">
            <a:avLst/>
          </a:prstGeom>
          <a:noFill/>
          <a:ln/>
        </p:spPr>
        <p:txBody>
          <a:bodyPr wrap="non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3%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500688" y="2932509"/>
            <a:ext cx="3214688" cy="9286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1"/>
          <p:cNvSpPr/>
          <p:nvPr/>
        </p:nvSpPr>
        <p:spPr>
          <a:xfrm>
            <a:off x="5500688" y="2932509"/>
            <a:ext cx="35719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5643563" y="3075384"/>
            <a:ext cx="29289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643563" y="3271838"/>
            <a:ext cx="2928938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model F1 drops to </a:t>
            </a: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&lt;0.50</a:t>
            </a: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</a:t>
            </a: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9. Trishul Adaptive model </a:t>
            </a: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maintains </a:t>
            </a: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&gt;0.82</a:t>
            </a: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78581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4-CLASS DETECTION: GRANULAR FRAUD ANALYSIS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500188"/>
            <a:ext cx="4071938" cy="1714500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FF6B3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678781"/>
            <a:ext cx="20002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685925"/>
            <a:ext cx="15478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FRAUD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07219" y="2014538"/>
            <a:ext cx="3714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Stolen card details or unauthorized purchases by malicious third parties.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2572755"/>
            <a:ext cx="85725" cy="857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0094" y="2560253"/>
            <a:ext cx="138041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IP-Geolocation Mismatch</a:t>
            </a:r>
            <a:endParaRPr lang="en-US" sz="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719201"/>
            <a:ext cx="85725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0094" y="2706700"/>
            <a:ext cx="10203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Triggers</a:t>
            </a:r>
            <a:endParaRPr lang="en-US" sz="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2865648"/>
            <a:ext cx="85725" cy="857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50094" y="2853147"/>
            <a:ext cx="114037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 Web Leak Check</a:t>
            </a:r>
            <a:endParaRPr lang="en-US" sz="750" dirty="0"/>
          </a:p>
        </p:txBody>
      </p:sp>
      <p:sp>
        <p:nvSpPr>
          <p:cNvPr id="16" name="Shape 9"/>
          <p:cNvSpPr/>
          <p:nvPr/>
        </p:nvSpPr>
        <p:spPr>
          <a:xfrm>
            <a:off x="4643438" y="1500188"/>
            <a:ext cx="4071938" cy="1714500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FF6B35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1678781"/>
            <a:ext cx="28575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14938" y="1685925"/>
            <a:ext cx="160991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FRIENDLY FRAUD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4822031" y="2014538"/>
            <a:ext cx="3714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Legitimate buyers abusing the dispute system to get products for free.</a:t>
            </a:r>
            <a:endParaRPr lang="en-US" sz="9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2572755"/>
            <a:ext cx="85725" cy="857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964906" y="2560253"/>
            <a:ext cx="12603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Confirmation</a:t>
            </a:r>
            <a:endParaRPr lang="en-US" sz="7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031" y="2719201"/>
            <a:ext cx="85725" cy="8572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964906" y="2706700"/>
            <a:ext cx="12603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 Purchase History</a:t>
            </a:r>
            <a:endParaRPr lang="en-US" sz="7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2031" y="2865648"/>
            <a:ext cx="85725" cy="8572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964906" y="2853147"/>
            <a:ext cx="150046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Media Verification</a:t>
            </a:r>
            <a:endParaRPr lang="en-US" sz="750" dirty="0"/>
          </a:p>
        </p:txBody>
      </p:sp>
      <p:sp>
        <p:nvSpPr>
          <p:cNvPr id="26" name="Shape 15"/>
          <p:cNvSpPr/>
          <p:nvPr/>
        </p:nvSpPr>
        <p:spPr>
          <a:xfrm>
            <a:off x="428625" y="3357563"/>
            <a:ext cx="4071938" cy="1714500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FF6B35"/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19" y="3536156"/>
            <a:ext cx="285750" cy="2286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000125" y="3543300"/>
            <a:ext cx="199840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TAKEOVER</a:t>
            </a:r>
            <a:endParaRPr lang="en-US" sz="1300" dirty="0"/>
          </a:p>
        </p:txBody>
      </p:sp>
      <p:sp>
        <p:nvSpPr>
          <p:cNvPr id="29" name="Text 17"/>
          <p:cNvSpPr/>
          <p:nvPr/>
        </p:nvSpPr>
        <p:spPr>
          <a:xfrm>
            <a:off x="607219" y="3871913"/>
            <a:ext cx="3714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Compromised user accounts used for unauthorized high-value transactions.</a:t>
            </a:r>
            <a:endParaRPr lang="en-US" sz="95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219" y="4430130"/>
            <a:ext cx="85725" cy="85725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750094" y="4417628"/>
            <a:ext cx="12603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Fingerprinting</a:t>
            </a:r>
            <a:endParaRPr lang="en-US" sz="75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219" y="4576576"/>
            <a:ext cx="85725" cy="85725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750094" y="4564075"/>
            <a:ext cx="12603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Behavioral Biometrics</a:t>
            </a:r>
            <a:endParaRPr lang="en-US" sz="75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7219" y="4723023"/>
            <a:ext cx="85725" cy="85725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750094" y="4710522"/>
            <a:ext cx="114037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MFA Failure History</a:t>
            </a:r>
            <a:endParaRPr lang="en-US" sz="750" dirty="0"/>
          </a:p>
        </p:txBody>
      </p:sp>
      <p:sp>
        <p:nvSpPr>
          <p:cNvPr id="36" name="Shape 21"/>
          <p:cNvSpPr/>
          <p:nvPr/>
        </p:nvSpPr>
        <p:spPr>
          <a:xfrm>
            <a:off x="4643438" y="3357563"/>
            <a:ext cx="4071938" cy="1714500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FF6B35"/>
            </a:solidFill>
            <a:prstDash val="solid"/>
          </a:ln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2031" y="3536156"/>
            <a:ext cx="228600" cy="22860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157788" y="3543300"/>
            <a:ext cx="19159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FAILURE</a:t>
            </a:r>
            <a:endParaRPr lang="en-US" sz="1300" dirty="0"/>
          </a:p>
        </p:txBody>
      </p:sp>
      <p:sp>
        <p:nvSpPr>
          <p:cNvPr id="39" name="Text 23"/>
          <p:cNvSpPr/>
          <p:nvPr/>
        </p:nvSpPr>
        <p:spPr>
          <a:xfrm>
            <a:off x="4822031" y="3871913"/>
            <a:ext cx="3714750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errors, duplicate charges, or processing malfunctions.</a:t>
            </a:r>
            <a:endParaRPr lang="en-US" sz="95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2031" y="4250141"/>
            <a:ext cx="85725" cy="85725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4964906" y="4237639"/>
            <a:ext cx="12603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Idempotency Key Check</a:t>
            </a:r>
            <a:endParaRPr lang="en-US" sz="750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2031" y="4396587"/>
            <a:ext cx="85725" cy="85725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4964906" y="4384086"/>
            <a:ext cx="12603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Response Logs</a:t>
            </a:r>
            <a:endParaRPr lang="en-US" sz="75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22031" y="4543034"/>
            <a:ext cx="85725" cy="85725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4964906" y="4530533"/>
            <a:ext cx="144041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Transaction ID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89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8933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WITH: THE TRISHUL TECH STACK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889397"/>
            <a:ext cx="4036219" cy="1428750"/>
          </a:xfrm>
          <a:prstGeom prst="rect">
            <a:avLst/>
          </a:prstGeom>
          <a:solidFill>
            <a:srgbClr val="FFFFFF">
              <a:alpha val="2000"/>
            </a:srgbClr>
          </a:solidFill>
          <a:ln w="18288">
            <a:solidFill>
              <a:srgbClr val="FF6B35">
                <a:alpha val="3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42988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06" y="1032272"/>
            <a:ext cx="133755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 &amp; ML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1310878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3.14 (Latest Stable)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71500" y="1575197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 (Cost-Sensitive Learning)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71500" y="1839516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 (Preprocessing &amp; RF)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79156" y="889397"/>
            <a:ext cx="4036219" cy="1428750"/>
          </a:xfrm>
          <a:prstGeom prst="rect">
            <a:avLst/>
          </a:prstGeom>
          <a:solidFill>
            <a:srgbClr val="FFFFFF">
              <a:alpha val="2000"/>
            </a:srgbClr>
          </a:solidFill>
          <a:ln w="18288">
            <a:solidFill>
              <a:srgbClr val="FF6B35">
                <a:alpha val="3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1042988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00638" y="1032272"/>
            <a:ext cx="16461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&amp; VALIDATION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822031" y="1310878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(Stateless Async API)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822031" y="1575197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Pydantic v2 (Strict Data Validation)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822031" y="1839516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 (98/98 Tests Passing)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28625" y="2532459"/>
            <a:ext cx="4036219" cy="1428750"/>
          </a:xfrm>
          <a:prstGeom prst="rect">
            <a:avLst/>
          </a:prstGeom>
          <a:solidFill>
            <a:srgbClr val="FFFFFF">
              <a:alpha val="2000"/>
            </a:srgbClr>
          </a:solidFill>
          <a:ln w="18288">
            <a:solidFill>
              <a:srgbClr val="FF6B35">
                <a:alpha val="3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86050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0106" y="2675334"/>
            <a:ext cx="12346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&amp; DATA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71500" y="2953941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River (Online Drift Detection)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71500" y="3218259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 &amp; NumPy (Data Engineering)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71500" y="3482578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Matplotlib (Visualization)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679156" y="2532459"/>
            <a:ext cx="4036219" cy="1428750"/>
          </a:xfrm>
          <a:prstGeom prst="rect">
            <a:avLst/>
          </a:prstGeom>
          <a:solidFill>
            <a:srgbClr val="FFFFFF">
              <a:alpha val="2000"/>
            </a:srgbClr>
          </a:solidFill>
          <a:ln w="18288">
            <a:solidFill>
              <a:srgbClr val="FF6B35">
                <a:alpha val="3000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2686050"/>
            <a:ext cx="192881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22069" y="2675334"/>
            <a:ext cx="144041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22031" y="2953941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(Real-time Caching)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822031" y="3218259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(Persistent Storage)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822031" y="3482578"/>
            <a:ext cx="375046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Kubernetes &amp; GitHub Actions</a:t>
            </a:r>
            <a:endParaRPr lang="en-US" sz="10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50" y="4175522"/>
            <a:ext cx="28575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929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929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CHALLENGES &amp; SOLUTIONS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892969"/>
            <a:ext cx="8286750" cy="3871913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5769" y="892969"/>
            <a:ext cx="2500313" cy="4286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435769" y="892969"/>
            <a:ext cx="2500313" cy="428625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Challenge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36081" y="892969"/>
            <a:ext cx="5772150" cy="4286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2936081" y="892969"/>
            <a:ext cx="5772150" cy="428625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Trishul Solution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5769" y="1321594"/>
            <a:ext cx="2500313" cy="1143000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Leakage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819" y="1550194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75868" y="1550194"/>
            <a:ext cx="41294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828548" y="1521619"/>
            <a:ext cx="15430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device_trust_score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121819" y="1550194"/>
            <a:ext cx="508512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inadvertently computed using the target variable.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819" y="2007394"/>
            <a:ext cx="142875" cy="1428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75868" y="2007394"/>
            <a:ext cx="2540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121819" y="2007394"/>
            <a:ext cx="489966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Re-engineered feature extraction to compute scores exclusively from historical device behavior.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35769" y="2464594"/>
            <a:ext cx="2500313" cy="1143000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Optimization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819" y="2686050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75868" y="2686050"/>
            <a:ext cx="41294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Issue: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3121819" y="2686050"/>
            <a:ext cx="518513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XGBoost objectives optimize for F1-score, ignoring asymmetric financial costs.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1819" y="3143250"/>
            <a:ext cx="142875" cy="142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375868" y="3143250"/>
            <a:ext cx="2540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3629918" y="3143250"/>
            <a:ext cx="138186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a custom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011787" y="3143250"/>
            <a:ext cx="214357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Cost-Matrix Threshold Sweeper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3121819" y="3143250"/>
            <a:ext cx="520913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find the point of maximum rupee savings.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35769" y="3607594"/>
            <a:ext cx="2500313" cy="1143000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 Model Comparison</a:t>
            </a:r>
            <a:endParaRPr lang="en-US" sz="11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1819" y="3829050"/>
            <a:ext cx="142875" cy="14287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375868" y="3829050"/>
            <a:ext cx="41294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Issue: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3121819" y="3829050"/>
            <a:ext cx="520198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Needed a rigorous way to prove adaptive retraining value against static baselines.</a:t>
            </a:r>
            <a:endParaRPr lang="en-US" sz="10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1819" y="4286250"/>
            <a:ext cx="142875" cy="14287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375868" y="4286250"/>
            <a:ext cx="2540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3121819" y="4286250"/>
            <a:ext cx="50029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a 12-month controlled simulation with quarterly retraining triggers and fixed evaluation windows.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428625" y="4972050"/>
            <a:ext cx="82867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Engineering Rigor • Data Integrity • Financial Alignment ]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3929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3929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FUTURE ROADMAP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035844"/>
            <a:ext cx="8286750" cy="1285875"/>
          </a:xfrm>
          <a:prstGeom prst="rect">
            <a:avLst/>
          </a:prstGeom>
          <a:solidFill>
            <a:srgbClr val="FF6B35">
              <a:alpha val="10000"/>
            </a:srgbClr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1250156"/>
            <a:ext cx="8286750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3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₹1.19 Cr</a:t>
            </a:r>
            <a:endParaRPr lang="en-US" sz="4350" dirty="0"/>
          </a:p>
        </p:txBody>
      </p:sp>
      <p:sp>
        <p:nvSpPr>
          <p:cNvPr id="8" name="Text 5"/>
          <p:cNvSpPr/>
          <p:nvPr/>
        </p:nvSpPr>
        <p:spPr>
          <a:xfrm>
            <a:off x="428625" y="1921669"/>
            <a:ext cx="82867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spc="2" kern="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SAVINGS PER 10K TRANSACTIONS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8625" y="2607469"/>
            <a:ext cx="3929063" cy="23574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PROJECT IMPACT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021806"/>
            <a:ext cx="142875" cy="142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8656" y="2986088"/>
            <a:ext cx="30019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78.5% fewer chargebacks vs. standard models.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328988"/>
            <a:ext cx="142875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8656" y="3293269"/>
            <a:ext cx="31529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Pre-settlement defense catches fraud before loss.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636169"/>
            <a:ext cx="107156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2938" y="3600450"/>
            <a:ext cx="31132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RBI-compliant: Aligned with July 2026 guidelines.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943350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8656" y="3907631"/>
            <a:ext cx="339914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Production-ready: Stateless and horizontally scalable.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4786313" y="2607469"/>
            <a:ext cx="3929063" cy="23574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DEVELOPMENT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3021806"/>
            <a:ext cx="125016" cy="1428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18484" y="2986088"/>
            <a:ext cx="27635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with live merchant data streams.</a:t>
            </a:r>
            <a:endParaRPr lang="en-US" sz="10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328988"/>
            <a:ext cx="142875" cy="1428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36344" y="3293269"/>
            <a:ext cx="27846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A/B testing with real-world production traffic.</a:t>
            </a:r>
            <a:endParaRPr lang="en-US" sz="10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3636169"/>
            <a:ext cx="142875" cy="14287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36344" y="3600450"/>
            <a:ext cx="315268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streaming pipeline for instant retraining.</a:t>
            </a:r>
            <a:endParaRPr lang="en-US" sz="10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3943350"/>
            <a:ext cx="178594" cy="14287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72063" y="3907631"/>
            <a:ext cx="28110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support for diverse BFSI clients.</a:t>
            </a:r>
            <a:endParaRPr lang="en-US" sz="1050" dirty="0"/>
          </a:p>
        </p:txBody>
      </p:sp>
      <p:sp>
        <p:nvSpPr>
          <p:cNvPr id="27" name="Shape 16"/>
          <p:cNvSpPr/>
          <p:nvPr/>
        </p:nvSpPr>
        <p:spPr>
          <a:xfrm>
            <a:off x="428625" y="4457700"/>
            <a:ext cx="828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17"/>
          <p:cNvSpPr/>
          <p:nvPr/>
        </p:nvSpPr>
        <p:spPr>
          <a:xfrm>
            <a:off x="428625" y="4457700"/>
            <a:ext cx="828675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18"/>
          <p:cNvSpPr/>
          <p:nvPr/>
        </p:nvSpPr>
        <p:spPr>
          <a:xfrm>
            <a:off x="428625" y="4711303"/>
            <a:ext cx="385829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</a:t>
            </a:r>
            <a:r>
              <a:rPr lang="en-US" sz="9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github.com/Daksh1308-AI-ML/AI-Risk-Manager</a:t>
            </a:r>
            <a:endParaRPr lang="en-US" sz="9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0563" y="4607719"/>
            <a:ext cx="1174812" cy="2500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2026-08-25T09:00:53Z</dcterms:created>
  <dcterms:modified xsi:type="dcterms:W3CDTF">2026-08-25T09:00:53Z</dcterms:modified>
</cp:coreProperties>
</file>